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Items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Key Research Papers</c:v>
                </c:pt>
                <c:pt idx="1">
                  <c:v>Industry Updates</c:v>
                </c:pt>
                <c:pt idx="2">
                  <c:v>Tools &amp; Frameworks</c:v>
                </c:pt>
                <c:pt idx="3">
                  <c:v>Notable Discussions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</c:v>
                </c:pt>
                <c:pt idx="1">
                  <c:v>5</c:v>
                </c:pt>
                <c:pt idx="2">
                  <c:v>4</c:v>
                </c:pt>
                <c:pt idx="3">
                  <c:v>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Weekly Agentic AI Digest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Week of 2025-12-15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1371600" cy="274320"/>
          </a:xfrm>
          <a:prstGeom prst="rect">
            <a:avLst/>
          </a:prstGeom>
          <a:solidFill>
            <a:srgbClr val="667EE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0" y="5486400"/>
            <a:ext cx="1371600" cy="274320"/>
          </a:xfrm>
          <a:prstGeom prst="rect">
            <a:avLst/>
          </a:prstGeom>
          <a:solidFill>
            <a:srgbClr val="764BA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498D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🤖 This Week in Agentic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📊 This Week's Highlights:</a:t>
            </a:r>
          </a:p>
          <a:p>
            <a:pPr/>
          </a:p>
          <a:p>
            <a:pPr/>
            <a:r>
              <a:t>This week highlighted the growing tension between agentic AI's technical capabilities</a:t>
            </a:r>
          </a:p>
          <a:p>
            <a:pPr/>
            <a:r>
              <a:t>and real-world deployment challenges. Multi-agent systems demonstrated breakthrough</a:t>
            </a:r>
          </a:p>
          <a:p>
            <a:pPr/>
            <a:r>
              <a:t>emergent behaviors in domains from drone racing to cybersecurity, while OpenAI's</a:t>
            </a:r>
          </a:p>
          <a:p>
            <a:pPr/>
            <a:r>
              <a:t>skills rollout and Claude CLI incidents underscored both the promise and critical</a:t>
            </a:r>
          </a:p>
          <a:p>
            <a:pPr/>
            <a:r>
              <a:t>safety concerns of giving agents tool access. Meanwhile, industry leaders like Ilya</a:t>
            </a:r>
          </a:p>
          <a:p>
            <a:pPr/>
            <a:r>
              <a:t>Sutskever questioned why impressive benchmark performance hasn't translated to</a:t>
            </a:r>
          </a:p>
          <a:p>
            <a:pPr/>
            <a:r>
              <a:t>proportional economic impact, pointing to a maturation phase where reliability,</a:t>
            </a:r>
          </a:p>
          <a:p>
            <a:pPr/>
            <a:r>
              <a:t>safety, and practical deployment matter as much as raw capabilities.</a:t>
            </a:r>
          </a:p>
          <a:p>
            <a:pPr/>
          </a:p>
          <a:p>
            <a:pPr/>
            <a:r>
              <a:t>📚 Sources: arXiv • Hacker News • Reddit</a:t>
            </a:r>
          </a:p>
          <a:p>
            <a:pPr/>
            <a:r>
              <a:t>🗓️  2025-12-15</a:t>
            </a:r>
          </a:p>
        </p:txBody>
      </p:sp>
      <p:sp>
        <p:nvSpPr>
          <p:cNvPr id="4" name="Oval 3"/>
          <p:cNvSpPr/>
          <p:nvPr/>
        </p:nvSpPr>
        <p:spPr>
          <a:xfrm>
            <a:off x="7772400" y="5029200"/>
            <a:ext cx="914400" cy="914400"/>
          </a:xfrm>
          <a:prstGeom prst="ellipse">
            <a:avLst/>
          </a:prstGeom>
          <a:solidFill>
            <a:srgbClr val="FFFFFF"/>
          </a:solidFill>
          <a:ln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BC9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📈 Content Distribution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914400" y="1371600"/>
          <a:ext cx="731520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B59B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🔬 Key Research Papers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5 key updates this week</a:t>
            </a:r>
          </a:p>
          <a:p>
            <a:pPr/>
          </a:p>
          <a:p>
            <a:pPr/>
            <a:r>
              <a:t>→ Swipe to explore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0" y="4572000"/>
            <a:ext cx="1371600" cy="13716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Agile Flight Emerges from Multi-Agent Competitive Racing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Demonstrates that sophisticated agile flight behaviors and strategic decision-making</a:t>
            </a:r>
          </a:p>
          <a:p>
            <a:pPr/>
            <a:r>
              <a:t>can emerge purely from multi-agent competition with sparse rewards, pushing platforms</a:t>
            </a:r>
          </a:p>
          <a:p>
            <a:pPr/>
            <a:r>
              <a:t>to physical limits through adversarial learning.</a:t>
            </a:r>
          </a:p>
          <a:p>
            <a:pPr/>
          </a:p>
          <a:p>
            <a:pPr/>
            <a:r>
              <a:t>📍 arXiv • Vineet Pasumarti, Lorenzo Bianchi, Antonio Loquercio</a:t>
            </a:r>
          </a:p>
          <a:p>
            <a:pPr/>
            <a:r>
              <a:t>🔗 https://arxiv.org/abs/2512.11781v1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31520"/>
            <a:ext cx="365760" cy="365760"/>
          </a:xfrm>
          <a:prstGeom prst="rect">
            <a:avLst/>
          </a:prstGeom>
          <a:solidFill>
            <a:srgbClr val="9B59B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MedAI: Evaluating TxAgent's Therapeutic Agentic Reasoning in the Ne...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Benchmarks agentic reasoning capabilities in high-stakes therapeutic decision-making,</a:t>
            </a:r>
          </a:p>
          <a:p>
            <a:pPr/>
            <a:r>
              <a:t>evaluating how AI agents handle complex interactions between patient characteristics,</a:t>
            </a:r>
          </a:p>
          <a:p>
            <a:pPr/>
            <a:r>
              <a:t>diseases, and pharmacological interventions.</a:t>
            </a:r>
          </a:p>
          <a:p>
            <a:pPr/>
          </a:p>
          <a:p>
            <a:pPr/>
            <a:r>
              <a:t>📍 arXiv • Tim Cofala, Christian Kalfar, Jingge Xiao</a:t>
            </a:r>
          </a:p>
          <a:p>
            <a:pPr/>
            <a:r>
              <a:t>🔗 https://arxiv.org/abs/2512.11682v1</a:t>
            </a:r>
          </a:p>
        </p:txBody>
      </p:sp>
      <p:sp>
        <p:nvSpPr>
          <p:cNvPr id="4" name="Oval 3"/>
          <p:cNvSpPr/>
          <p:nvPr/>
        </p:nvSpPr>
        <p:spPr>
          <a:xfrm>
            <a:off x="274320" y="731520"/>
            <a:ext cx="365760" cy="365760"/>
          </a:xfrm>
          <a:prstGeom prst="ellipse">
            <a:avLst/>
          </a:prstGeom>
          <a:solidFill>
            <a:srgbClr val="9B59B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3. Bounding Hallucinations: Information-Theoretic Guarantees for RAG S...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36576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Provides theoretical framework for verifiable retrieval in RAG systems by treating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0" y="1371600"/>
            <a:ext cx="36576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retrieval as provable evidence rather than heuristics, addressing a critical</a:t>
            </a:r>
          </a:p>
          <a:p>
            <a:r>
              <a:t>reliability challenge for agent systems.</a:t>
            </a:r>
          </a:p>
          <a:p/>
          <a:p>
            <a:r>
              <a:t>📍 arXiv • Björn Deiseroth, Max Henning Höth, Kristian Kersting</a:t>
            </a:r>
          </a:p>
          <a:p>
            <a:r>
              <a:t>🔗 https://arxiv.org/abs/2512.11614v1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731520"/>
            <a:ext cx="365760" cy="365760"/>
          </a:xfrm>
          <a:prstGeom prst="rect">
            <a:avLst/>
          </a:prstGeom>
          <a:solidFill>
            <a:srgbClr val="9B59B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LUCID: Learning-Enabled Uncertainty-Aware Certification of Stochast...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Advances formal verification for AI-enabled autonomous systems by addressing</a:t>
            </a:r>
          </a:p>
          <a:p>
            <a:pPr/>
            <a:r>
              <a:t>uncertainty in stochastic environments, crucial for safe deployment of agents in</a:t>
            </a:r>
          </a:p>
          <a:p>
            <a:pPr/>
            <a:r>
              <a:t>high-stakes domains like autonomous driving.</a:t>
            </a:r>
          </a:p>
          <a:p>
            <a:pPr/>
          </a:p>
          <a:p>
            <a:pPr/>
            <a:r>
              <a:t>📍 arXiv • Ernesto Casablanca, Oliver Schön, Paolo Zuliani</a:t>
            </a:r>
          </a:p>
          <a:p>
            <a:pPr/>
            <a:r>
              <a:t>🔗 https://arxiv.org/abs/2512.11750v1</a:t>
            </a:r>
          </a:p>
        </p:txBody>
      </p:sp>
      <p:sp>
        <p:nvSpPr>
          <p:cNvPr id="4" name="Oval 3"/>
          <p:cNvSpPr/>
          <p:nvPr/>
        </p:nvSpPr>
        <p:spPr>
          <a:xfrm>
            <a:off x="274320" y="731520"/>
            <a:ext cx="365760" cy="365760"/>
          </a:xfrm>
          <a:prstGeom prst="ellipse">
            <a:avLst/>
          </a:prstGeom>
          <a:solidFill>
            <a:srgbClr val="9B59B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High-Dimensional Surrogate Modeling for Closed-Loop Learning of Neu...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Enables efficient learning of controller parameters from closed-loop data using</a:t>
            </a:r>
          </a:p>
          <a:p>
            <a:pPr/>
            <a:r>
              <a:t>Bayesian optimization with surrogate models, improving autonomous agent control in</a:t>
            </a:r>
          </a:p>
          <a:p>
            <a:pPr/>
            <a:r>
              <a:t>complex decision spaces.</a:t>
            </a:r>
          </a:p>
          <a:p>
            <a:pPr/>
          </a:p>
          <a:p>
            <a:pPr/>
            <a:r>
              <a:t>📍 arXiv • Sebastian Hirt, Valentinus Suwanto, Hendrik Alsmeier</a:t>
            </a:r>
          </a:p>
          <a:p>
            <a:pPr/>
            <a:r>
              <a:t>🔗 https://arxiv.org/abs/2512.11705v1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31520"/>
            <a:ext cx="365760" cy="365760"/>
          </a:xfrm>
          <a:prstGeom prst="rect">
            <a:avLst/>
          </a:prstGeom>
          <a:solidFill>
            <a:srgbClr val="9B59B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498D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🏢 Industry Updates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5 key updates this week</a:t>
            </a:r>
          </a:p>
          <a:p>
            <a:pPr/>
          </a:p>
          <a:p>
            <a:pPr/>
            <a:r>
              <a:t>→ Swipe to explore</a:t>
            </a:r>
          </a:p>
        </p:txBody>
      </p:sp>
      <p:sp>
        <p:nvSpPr>
          <p:cNvPr id="4" name="Oval 3"/>
          <p:cNvSpPr/>
          <p:nvPr/>
        </p:nvSpPr>
        <p:spPr>
          <a:xfrm>
            <a:off x="7315200" y="4572000"/>
            <a:ext cx="1371600" cy="1371600"/>
          </a:xfrm>
          <a:prstGeom prst="ellipse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OpenAI are quietly adopting skills, now available in ChatGPT and Co...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OpenAI is rolling out 'skills' functionality that enables more modular and composable</a:t>
            </a:r>
          </a:p>
          <a:p>
            <a:pPr/>
            <a:r>
              <a:t>agent capabilities, representing a shift toward more structured tool use and planning</a:t>
            </a:r>
          </a:p>
          <a:p>
            <a:pPr/>
            <a:r>
              <a:t>in production systems.</a:t>
            </a:r>
          </a:p>
          <a:p>
            <a:pPr/>
          </a:p>
          <a:p>
            <a:pPr/>
            <a:r>
              <a:t>📍 Hacker News • 568 points • 313 comments</a:t>
            </a:r>
          </a:p>
          <a:p>
            <a:pPr/>
            <a:r>
              <a:t>🔗 https://simonwillison.net/2025/Dec/12/openai-skills/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31520"/>
            <a:ext cx="365760" cy="365760"/>
          </a:xfrm>
          <a:prstGeom prst="rect">
            <a:avLst/>
          </a:prstGeom>
          <a:solidFill>
            <a:srgbClr val="3498D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AI agents are starting to eat SaaS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Analysis of how autonomous AI agents are beginning to replace traditional SaaS</a:t>
            </a:r>
          </a:p>
          <a:p>
            <a:pPr/>
            <a:r>
              <a:t>workflows, marking a fundamental shift in software economics and business models.</a:t>
            </a:r>
          </a:p>
          <a:p>
            <a:pPr/>
          </a:p>
          <a:p>
            <a:pPr/>
            <a:r>
              <a:t>📍 Hacker News • 118 points • 136 comments</a:t>
            </a:r>
          </a:p>
          <a:p>
            <a:pPr/>
            <a:r>
              <a:t>🔗 https://martinalderson.com/posts/ai-agents-are-starting-to-eat-saas/</a:t>
            </a:r>
          </a:p>
        </p:txBody>
      </p:sp>
      <p:sp>
        <p:nvSpPr>
          <p:cNvPr id="4" name="Oval 3"/>
          <p:cNvSpPr/>
          <p:nvPr/>
        </p:nvSpPr>
        <p:spPr>
          <a:xfrm>
            <a:off x="274320" y="731520"/>
            <a:ext cx="365760" cy="365760"/>
          </a:xfrm>
          <a:prstGeom prst="ellipse">
            <a:avLst/>
          </a:prstGeom>
          <a:solidFill>
            <a:srgbClr val="3498D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3. Claude CLI deleted my home directory and wiped my Mac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36576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Critical incident highlighting the safety challenges of giving AI agents file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0" y="1371600"/>
            <a:ext cx="36576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access and tool-use capabilities, sparking important discussions about guardrails and</a:t>
            </a:r>
          </a:p>
          <a:p>
            <a:r>
              <a:t>permission systems.</a:t>
            </a:r>
          </a:p>
          <a:p/>
          <a:p>
            <a:r>
              <a:t>📍 Hacker News • 220 points • 179 comments</a:t>
            </a:r>
          </a:p>
          <a:p>
            <a:r>
              <a:t>🔗 https://old.reddit.com/r/ClaudeAI/comments/1pgxckk/claude_cli_delet...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731520"/>
            <a:ext cx="365760" cy="365760"/>
          </a:xfrm>
          <a:prstGeom prst="rect">
            <a:avLst/>
          </a:prstGeom>
          <a:solidFill>
            <a:srgbClr val="3498D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An AI agent spent 16 hours hacking Stanford's network. It outperfor...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Demonstrates autonomous agents successfully executing complex, multi-step security</a:t>
            </a:r>
          </a:p>
          <a:p>
            <a:pPr/>
            <a:r>
              <a:t>penetration testing, showing practical viability of agents for specialized</a:t>
            </a:r>
          </a:p>
          <a:p>
            <a:pPr/>
            <a:r>
              <a:t>professional tasks requiring planning and tool use.</a:t>
            </a:r>
          </a:p>
          <a:p>
            <a:pPr/>
          </a:p>
          <a:p>
            <a:pPr/>
            <a:r>
              <a:t>📍 r/artificial • 207 upvotes • 32 comments</a:t>
            </a:r>
          </a:p>
          <a:p>
            <a:pPr/>
            <a:r>
              <a:t>🔗 https://reddit.com/r/artificial/comments/1pkuaaq/an_ai_agent_spent_...</a:t>
            </a:r>
          </a:p>
        </p:txBody>
      </p:sp>
      <p:sp>
        <p:nvSpPr>
          <p:cNvPr id="4" name="Oval 3"/>
          <p:cNvSpPr/>
          <p:nvPr/>
        </p:nvSpPr>
        <p:spPr>
          <a:xfrm>
            <a:off x="274320" y="731520"/>
            <a:ext cx="365760" cy="365760"/>
          </a:xfrm>
          <a:prstGeom prst="ellipse">
            <a:avLst/>
          </a:prstGeom>
          <a:solidFill>
            <a:srgbClr val="3498D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Pete Hegseth Says the Pentagon's New Chatbot Will Make America 'Mor...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Major deployment of AI agent technology in military operations, representing</a:t>
            </a:r>
          </a:p>
          <a:p>
            <a:pPr/>
            <a:r>
              <a:t>high-stakes real-world application with significant implications for autonomous</a:t>
            </a:r>
          </a:p>
          <a:p>
            <a:pPr/>
            <a:r>
              <a:t>decision-making in critical scenarios.</a:t>
            </a:r>
          </a:p>
          <a:p>
            <a:pPr/>
          </a:p>
          <a:p>
            <a:pPr/>
            <a:r>
              <a:t>📍 r/artificial • 260 upvotes • 125 comments</a:t>
            </a:r>
          </a:p>
          <a:p>
            <a:pPr/>
            <a:r>
              <a:t>🔗 https://reddit.com/r/artificial/comments/1piors1/pete_hegseth_says_...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31520"/>
            <a:ext cx="365760" cy="365760"/>
          </a:xfrm>
          <a:prstGeom prst="rect">
            <a:avLst/>
          </a:prstGeom>
          <a:solidFill>
            <a:srgbClr val="3498D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BC9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🛠️ Tools &amp; Frameworks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4 key updates this week</a:t>
            </a:r>
          </a:p>
          <a:p>
            <a:pPr/>
          </a:p>
          <a:p>
            <a:pPr/>
            <a:r>
              <a:t>→ Swipe to explore</a:t>
            </a:r>
          </a:p>
        </p:txBody>
      </p:sp>
      <p:sp>
        <p:nvSpPr>
          <p:cNvPr id="4" name="Isosceles Triangle 3"/>
          <p:cNvSpPr/>
          <p:nvPr/>
        </p:nvSpPr>
        <p:spPr>
          <a:xfrm>
            <a:off x="7315200" y="4572000"/>
            <a:ext cx="1371600" cy="1371600"/>
          </a:xfrm>
          <a:prstGeom prst="triangle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Introducing: Devstral 2 and Mistral Vibe CLI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Mistral launches new developer-focused model and CLI tool, expanding the ecosystem of</a:t>
            </a:r>
          </a:p>
          <a:p>
            <a:pPr/>
            <a:r>
              <a:t>frameworks for building coding agents with improved tool integration.</a:t>
            </a:r>
          </a:p>
          <a:p>
            <a:pPr/>
          </a:p>
          <a:p>
            <a:pPr/>
            <a:r>
              <a:t>📍 r/LocalLLaMA • 688 upvotes • 218 comments</a:t>
            </a:r>
          </a:p>
          <a:p>
            <a:pPr/>
            <a:r>
              <a:t>🔗 https://reddit.com/r/LocalLLaMA/comments/1pi9q3t/introducing_devstr...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31520"/>
            <a:ext cx="365760" cy="365760"/>
          </a:xfrm>
          <a:prstGeom prst="rect">
            <a:avLst/>
          </a:prstGeom>
          <a:solidFill>
            <a:srgbClr val="1ABC9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You can now train LLMs 3x faster with 30% less memory! (&lt;3.9GB VRAM)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Breakthrough in memory-efficient training enables fine-tuning agent models on</a:t>
            </a:r>
          </a:p>
          <a:p>
            <a:pPr/>
            <a:r>
              <a:t>consumer hardware, democratizing development of specialized autonomous agents.</a:t>
            </a:r>
          </a:p>
          <a:p>
            <a:pPr/>
          </a:p>
          <a:p>
            <a:pPr/>
            <a:r>
              <a:t>📍 r/LocalLLaMA • 1025 upvotes • 114 comments</a:t>
            </a:r>
          </a:p>
          <a:p>
            <a:pPr/>
            <a:r>
              <a:t>🔗 https://reddit.com/r/LocalLLaMA/comments/1pj51tu/you_can_now_train_...</a:t>
            </a:r>
          </a:p>
        </p:txBody>
      </p:sp>
      <p:sp>
        <p:nvSpPr>
          <p:cNvPr id="4" name="Oval 3"/>
          <p:cNvSpPr/>
          <p:nvPr/>
        </p:nvSpPr>
        <p:spPr>
          <a:xfrm>
            <a:off x="274320" y="731520"/>
            <a:ext cx="365760" cy="365760"/>
          </a:xfrm>
          <a:prstGeom prst="ellipse">
            <a:avLst/>
          </a:prstGeom>
          <a:solidFill>
            <a:srgbClr val="1ABC9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3. Mistral AI drops 3x as many LLMs in a single week as OpenAI did in 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36576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Rapid release of multiple model variants provides diverse foundation options for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0" y="1371600"/>
            <a:ext cx="36576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building specialized agents across different scales and capabilities.</a:t>
            </a:r>
          </a:p>
          <a:p/>
          <a:p>
            <a:r>
              <a:t>📍 r/LocalLLaMA • 843 upvotes • 112 comments</a:t>
            </a:r>
          </a:p>
          <a:p>
            <a:r>
              <a:t>🔗 https://reddit.com/r/LocalLLaMA/comments/1pj8kb6/mistral_ai_drops_3...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731520"/>
            <a:ext cx="365760" cy="365760"/>
          </a:xfrm>
          <a:prstGeom prst="rect">
            <a:avLst/>
          </a:prstGeom>
          <a:solidFill>
            <a:srgbClr val="1ABC9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8x RTX Pro 6000 server complete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Community building high-memory local infrastructure enables running larger</a:t>
            </a:r>
          </a:p>
          <a:p>
            <a:pPr/>
            <a:r>
              <a:t>multi-agent systems and complex reasoning chains without cloud dependencies.</a:t>
            </a:r>
          </a:p>
          <a:p>
            <a:pPr/>
          </a:p>
          <a:p>
            <a:pPr/>
            <a:r>
              <a:t>📍 r/LocalLLaMA • 609 upvotes • 264 comments</a:t>
            </a:r>
          </a:p>
          <a:p>
            <a:pPr/>
            <a:r>
              <a:t>🔗 https://reddit.com/r/LocalLLaMA/comments/1plwgun/8x_rtx_pro_6000_se...</a:t>
            </a:r>
          </a:p>
        </p:txBody>
      </p:sp>
      <p:sp>
        <p:nvSpPr>
          <p:cNvPr id="4" name="Oval 3"/>
          <p:cNvSpPr/>
          <p:nvPr/>
        </p:nvSpPr>
        <p:spPr>
          <a:xfrm>
            <a:off x="274320" y="731520"/>
            <a:ext cx="365760" cy="365760"/>
          </a:xfrm>
          <a:prstGeom prst="ellipse">
            <a:avLst/>
          </a:prstGeom>
          <a:solidFill>
            <a:srgbClr val="1ABC9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4C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💬 Notable Discussions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4 key updates this week</a:t>
            </a:r>
          </a:p>
          <a:p>
            <a:pPr/>
          </a:p>
          <a:p>
            <a:pPr/>
            <a:r>
              <a:t>→ Swipe to explore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0" y="4572000"/>
            <a:ext cx="1371600" cy="1371600"/>
          </a:xfrm>
          <a:prstGeom prst="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Ilya Sutskever is puzzled by the gap between AI benchmarks and the ...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Leading AI researcher questions why impressive agent capabilities on benchmarks</a:t>
            </a:r>
          </a:p>
          <a:p>
            <a:pPr/>
            <a:r>
              <a:t>aren't translating to proportional economic value, highlighting deployment and</a:t>
            </a:r>
          </a:p>
          <a:p>
            <a:pPr/>
            <a:r>
              <a:t>reliability gaps.</a:t>
            </a:r>
          </a:p>
          <a:p>
            <a:pPr/>
          </a:p>
          <a:p>
            <a:pPr/>
            <a:r>
              <a:t>📍 r/MachineLearning • 386 upvotes • 191 comments</a:t>
            </a:r>
          </a:p>
          <a:p>
            <a:pPr/>
            <a:r>
              <a:t>🔗 https://reddit.com/r/MachineLearning/comments/1pm2zsb/ilya_sutskeve...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31520"/>
            <a:ext cx="365760" cy="365760"/>
          </a:xfrm>
          <a:prstGeom prst="rect">
            <a:avLst/>
          </a:prstGeom>
          <a:solidFill>
            <a:srgbClr val="E74C3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[D] How does Claude perform so well without any proprietary data?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Community discussion on training methodologies that enable strong agent reasoning and</a:t>
            </a:r>
          </a:p>
          <a:p>
            <a:pPr/>
            <a:r>
              <a:t>tool use without proprietary datasets, suggesting architecture and RL techniques</a:t>
            </a:r>
          </a:p>
          <a:p>
            <a:pPr/>
            <a:r>
              <a:t>matter more than data scale.</a:t>
            </a:r>
          </a:p>
          <a:p>
            <a:pPr/>
          </a:p>
          <a:p>
            <a:pPr/>
            <a:r>
              <a:t>📍 r/MachineLearning • 126 upvotes • 129 comments</a:t>
            </a:r>
          </a:p>
          <a:p>
            <a:pPr/>
            <a:r>
              <a:t>🔗 https://reddit.com/r/MachineLearning/comments/1plg1gs/d_how_does_cl...</a:t>
            </a:r>
          </a:p>
        </p:txBody>
      </p:sp>
      <p:sp>
        <p:nvSpPr>
          <p:cNvPr id="4" name="Oval 3"/>
          <p:cNvSpPr/>
          <p:nvPr/>
        </p:nvSpPr>
        <p:spPr>
          <a:xfrm>
            <a:off x="274320" y="731520"/>
            <a:ext cx="365760" cy="365760"/>
          </a:xfrm>
          <a:prstGeom prst="ellipse">
            <a:avLst/>
          </a:prstGeom>
          <a:solidFill>
            <a:srgbClr val="E74C3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3. Something Ominous Is Happening in the AI Economy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36576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Analysis of growing concerns about AI agent deployment economics, sustainability, 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0" y="1371600"/>
            <a:ext cx="36576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whether current autonomous systems can deliver on promised productivity gains.</a:t>
            </a:r>
          </a:p>
          <a:p/>
          <a:p>
            <a:r>
              <a:t>📍 r/artificial • 154 upvotes • 72 comments</a:t>
            </a:r>
          </a:p>
          <a:p>
            <a:r>
              <a:t>🔗 https://reddit.com/r/artificial/comments/1pk6avk/something_ominous_...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731520"/>
            <a:ext cx="365760" cy="365760"/>
          </a:xfrm>
          <a:prstGeom prst="rect">
            <a:avLst/>
          </a:prstGeom>
          <a:solidFill>
            <a:srgbClr val="E74C3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LLMs can understand Base64 encoded instructions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Discovery reveals potential vulnerabilities in agent safety systems, as encoding can</a:t>
            </a:r>
          </a:p>
          <a:p>
            <a:pPr/>
            <a:r>
              <a:t>bypass instruction filters, raising concerns about reliable constraint enforcement in</a:t>
            </a:r>
          </a:p>
          <a:p>
            <a:pPr/>
            <a:r>
              <a:t>autonomous agents.</a:t>
            </a:r>
          </a:p>
          <a:p>
            <a:pPr/>
          </a:p>
          <a:p>
            <a:pPr/>
            <a:r>
              <a:t>📍 r/artificial • 173 upvotes • 71 comments</a:t>
            </a:r>
          </a:p>
          <a:p>
            <a:pPr/>
            <a:r>
              <a:t>🔗 https://reddit.com/r/artificial/comments/1pioxt4/llms_can_understan...</a:t>
            </a:r>
          </a:p>
        </p:txBody>
      </p:sp>
      <p:sp>
        <p:nvSpPr>
          <p:cNvPr id="4" name="Oval 3"/>
          <p:cNvSpPr/>
          <p:nvPr/>
        </p:nvSpPr>
        <p:spPr>
          <a:xfrm>
            <a:off x="274320" y="731520"/>
            <a:ext cx="365760" cy="365760"/>
          </a:xfrm>
          <a:prstGeom prst="ellipse">
            <a:avLst/>
          </a:prstGeom>
          <a:solidFill>
            <a:srgbClr val="E74C3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498D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📅 Upcoming Editions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14400" y="3200400"/>
            <a:ext cx="7315200" cy="0"/>
          </a:xfrm>
          <a:prstGeom prst="line">
            <a:avLst/>
          </a:prstGeom>
          <a:ln w="38100">
            <a:solidFill>
              <a:srgbClr val="4472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Oval 3"/>
          <p:cNvSpPr/>
          <p:nvPr/>
        </p:nvSpPr>
        <p:spPr>
          <a:xfrm>
            <a:off x="777240" y="3063240"/>
            <a:ext cx="274320" cy="274320"/>
          </a:xfrm>
          <a:prstGeom prst="ellipse">
            <a:avLst/>
          </a:prstGeom>
          <a:solidFill>
            <a:srgbClr val="4472C4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/>
            </a:pPr>
            <a:r>
              <a:t>Dec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3657600"/>
            <a:ext cx="1371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/>
            </a:pPr>
            <a:r>
              <a:t>Week 1 Digest</a:t>
            </a:r>
          </a:p>
        </p:txBody>
      </p:sp>
      <p:sp>
        <p:nvSpPr>
          <p:cNvPr id="7" name="Oval 6"/>
          <p:cNvSpPr/>
          <p:nvPr/>
        </p:nvSpPr>
        <p:spPr>
          <a:xfrm>
            <a:off x="3215640" y="3063240"/>
            <a:ext cx="274320" cy="274320"/>
          </a:xfrm>
          <a:prstGeom prst="ellipse">
            <a:avLst/>
          </a:prstGeom>
          <a:solidFill>
            <a:srgbClr val="4472C4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95600" y="228600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/>
            </a:pPr>
            <a:r>
              <a:t>Dec 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67000" y="3657600"/>
            <a:ext cx="1371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/>
            </a:pPr>
            <a:r>
              <a:t>Week 2 Digest</a:t>
            </a:r>
          </a:p>
        </p:txBody>
      </p:sp>
      <p:sp>
        <p:nvSpPr>
          <p:cNvPr id="10" name="Oval 9"/>
          <p:cNvSpPr/>
          <p:nvPr/>
        </p:nvSpPr>
        <p:spPr>
          <a:xfrm>
            <a:off x="5654039" y="3063240"/>
            <a:ext cx="274320" cy="274320"/>
          </a:xfrm>
          <a:prstGeom prst="ellipse">
            <a:avLst/>
          </a:prstGeom>
          <a:solidFill>
            <a:srgbClr val="4472C4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34000" y="228600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/>
            </a:pPr>
            <a:r>
              <a:t>Jan 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05400" y="3657600"/>
            <a:ext cx="1371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/>
            </a:pPr>
            <a:r>
              <a:t>Week 3 Digest</a:t>
            </a:r>
          </a:p>
        </p:txBody>
      </p:sp>
      <p:sp>
        <p:nvSpPr>
          <p:cNvPr id="13" name="Oval 12"/>
          <p:cNvSpPr/>
          <p:nvPr/>
        </p:nvSpPr>
        <p:spPr>
          <a:xfrm>
            <a:off x="8092440" y="3063240"/>
            <a:ext cx="274320" cy="274320"/>
          </a:xfrm>
          <a:prstGeom prst="ellipse">
            <a:avLst/>
          </a:prstGeom>
          <a:solidFill>
            <a:srgbClr val="4472C4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228600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/>
            </a:pPr>
            <a:r>
              <a:t>Jan 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43800" y="3657600"/>
            <a:ext cx="1371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/>
            </a:pPr>
            <a:r>
              <a:t>Week 4 Digest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64BA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✨ Stay Curious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Your weekly AI digest</a:t>
            </a:r>
          </a:p>
          <a:p>
            <a:pPr/>
            <a:r>
              <a:t>Automatically curated every Sunday at 6 PM</a:t>
            </a:r>
          </a:p>
          <a:p>
            <a:pPr/>
          </a:p>
          <a:p>
            <a:pPr/>
            <a:r>
              <a:t>🔬 Data Sources:</a:t>
            </a:r>
          </a:p>
          <a:p>
            <a:pPr/>
            <a:r>
              <a:t>  • arXiv Research Papers</a:t>
            </a:r>
          </a:p>
          <a:p>
            <a:pPr/>
            <a:r>
              <a:t>  • Hacker News</a:t>
            </a:r>
          </a:p>
          <a:p>
            <a:pPr/>
            <a:r>
              <a:t>  • Reddit ML Communities</a:t>
            </a:r>
          </a:p>
          <a:p>
            <a:pPr/>
          </a:p>
          <a:p>
            <a:pPr/>
            <a:r>
              <a:t>📅 Next edition: December 21, 2025</a:t>
            </a:r>
          </a:p>
        </p:txBody>
      </p:sp>
      <p:sp>
        <p:nvSpPr>
          <p:cNvPr id="4" name="Oval 3"/>
          <p:cNvSpPr/>
          <p:nvPr/>
        </p:nvSpPr>
        <p:spPr>
          <a:xfrm>
            <a:off x="914400" y="4572000"/>
            <a:ext cx="731520" cy="731520"/>
          </a:xfrm>
          <a:prstGeom prst="ellipse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0" y="1371600"/>
            <a:ext cx="914400" cy="457200"/>
          </a:xfrm>
          <a:prstGeom prst="rect">
            <a:avLst/>
          </a:prstGeom>
          <a:solidFill>
            <a:srgbClr val="667EE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